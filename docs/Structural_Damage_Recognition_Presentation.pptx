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 faculty and evaluation panel. Today we present our Machine Learning mini-project: 'Structural Damage Recognition Using Transfer Learning' on the benchmark PEER Hub ImageNet dataset. Our team (Section C, Team C-22) consists of Mirunjai Suresh Kumar and Mohammed Sinan M T. Over the next few minutes, we will present the disaster management motivation, memory-efficient data pipeline, verified experimental results on the official 1,460 test images, and demonstrate our live interactive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Post-earthquake structural triage is a matter of life safety. When an earthquake strikes an urban area, inspecting thousands of structures manually is slow and perilous. Our objective was to develop an assistive machine learning tool that rapid-triages photographs of columns, beams, and facades into Damaged or Undamaged states. Crucially, we set strict software engineering goals: our solution had to execute reliably on consumer laptops using memory-mapped arrays, achieve high recall on the damaged class, and integrate into an intuitive web interface.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dataset breakdown. We utilize Task 2 of the UC Berkeley PEER Hub ImageNet benchmark. The training set contains 11,811 images occupying 6.6 gigabytes on disk, with a nearly balanced class ratio: 53% damaged and 47% undamaged. The official test set contains 1,460 held-out images. An important empirical finding during our audit was that the labels in both arrays were stored in contiguous blocks: all class 0 first, followed by all class 1. Therefore, stratified shuffling was mandatory to prevent single-class batches.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Turning to preprocessing and systems engineering. The dataset arrived preprocessed with Caffe BGR mean subtraction, which we inverted back to standard RGB before mapping into MobileNetV2's [-1, 1] input range. Critically, uploaded JPG photographs are already standard RGB, so our app cleanly separates dataset array restoration from inference upload preprocessing. To run on an 8 GB laptop, we engineered a resumable disk-backed caching system using NumPy memory maps. This kept active RAM usage strictly below 1.5 GB and allowed resuming extraction without re-processing earlier images.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verified model architecture. We adopted transfer learning using MobileNetV2 with include_top=False. The frozen convolutional backbone contains exactly 2,257,984 parameters. Global average pooling condenses each image into a 1,280-dimensional feature representation. Our trainable head consists of a 40% dropout layer, 64 hidden ReLU units, and a 2-class softmax output, totaling 82,114 trainable parameters and 2,340,098 total parameters. Training this head on the cached features takes under 30 seconds on a standard dual-core laptop CPU.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Looking at our training curves: on the left is categorical cross-entropy loss, and on the right is accuracy. Training progressed smoothly over 19 epochs with EarlyStopping restoring the optimal weights at epoch 14. The validation accuracy stabilized at 85.7% compared to 91% on training data. This tight 5.3% generalization gap confirms that our 0.4 dropout rate provided effective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These are our verified results on the official held-out test set of 1,460 images. The model achieved 84.25% test accuracy and an ROC-AUC of 0.9289. Notice that our recall for the Damaged class is 85.91%, meaning we correctly catch 640 out of 745 damaged structures. In post-disaster triage, recall on the damaged class is the most critical metric because a false negative—clearing a damaged building—is far more dangerous than inspecting an undamaged building that triggered a false alarm.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Why does an 84% accurate model make mistakes? Our error analysis uncovered two plausible visual failure modes. The 105 false negatives plausibly occur where fine hairline cracks get smoothed away by 224-pixel downsampling or where harsh shadows conceal defects. Conversely, the 125 false alarms plausibly occur when high-contrast mortar lines, exposed conduit, or tree branch shadows mimic crack geometry. Note that these are visual hypotheses from model diagnostics rather than on-site physical forensics.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We packaged our model into a responsive Streamlit web application. The model is cached in memory, and single-image inference runs responsively on standard CPU. Users drag and drop any JPG or PNG photo, and the app displays the predicted category, confidence score, and dual probability bars. In the review session, we will demonstrate live classifications on both damaged and undamaged samples.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conclude responsibly, we address the limitations of our prototype. A binary classifier cannot grade whether a crack is cosmetic or structural. Furthermore, our safety disclaimer makes it clear that this prototype is strictly an educational tool. Our future roadmap includes multi-task classification across Phi-Net Tasks 3 to 6, Grad-CAM visual saliency maps for explainability, and edge quantization to TensorFlow Lite for drone inspections.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 conclusion, we have delivered a complete, reproducible Machine Learning pipeline for structural damage recognition. Our model achieves 84.25% test accuracy and 0.9289 ROC-AUC on the official benchmark, accompanied by an interactive demo app, our 2-page report, and full codebase. Thank you for your time, and we now welcome any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2011680"/>
          </a:xfrm>
          <a:prstGeom prst="rect">
            <a:avLst/>
          </a:prstGeom>
          <a:noFill/>
        </p:spPr>
        <p:txBody>
          <a:bodyPr wrap="square">
            <a:spAutoFit/>
          </a:bodyPr>
          <a:lstStyle/>
          <a:p>
            <a:pPr>
              <a:defRPr sz="1300" b="1">
                <a:solidFill>
                  <a:srgbClr val="2B6CB0"/>
                </a:solidFill>
                <a:latin typeface="Arial"/>
              </a:defRPr>
            </a:pPr>
            <a:r>
              <a:t>UE24CS352A — MACHINE LEARNING MINI-PROJECT (SEC-C, TEAM C-22, PROJECT 31)</a:t>
            </a:r>
          </a:p>
          <a:p>
            <a:pPr>
              <a:spcBef>
                <a:spcPts val="800"/>
              </a:spcBef>
              <a:defRPr sz="3200" b="1">
                <a:solidFill>
                  <a:srgbClr val="1A365D"/>
                </a:solidFill>
                <a:latin typeface="Arial"/>
              </a:defRPr>
            </a:pPr>
            <a:r>
              <a:t>Structural Damage Recognition Using Transfer Learning</a:t>
            </a:r>
          </a:p>
          <a:p>
            <a:pPr>
              <a:spcBef>
                <a:spcPts val="800"/>
              </a:spcBef>
              <a:defRPr sz="1600">
                <a:solidFill>
                  <a:srgbClr val="2D3748"/>
                </a:solidFill>
                <a:latin typeface="Arial"/>
              </a:defRPr>
            </a:pPr>
            <a:r>
              <a:t>Automated Binary Damage State Classification on PEER Hub ImageNet (Phi-Net Task 2)</a:t>
            </a:r>
          </a:p>
        </p:txBody>
      </p:sp>
      <p:sp>
        <p:nvSpPr>
          <p:cNvPr id="4" name="TextBox 3"/>
          <p:cNvSpPr txBox="1"/>
          <p:nvPr/>
        </p:nvSpPr>
        <p:spPr>
          <a:xfrm>
            <a:off x="914400" y="4114800"/>
            <a:ext cx="10332720" cy="1828800"/>
          </a:xfrm>
          <a:prstGeom prst="rect">
            <a:avLst/>
          </a:prstGeom>
          <a:noFill/>
        </p:spPr>
        <p:txBody>
          <a:bodyPr wrap="none">
            <a:spAutoFit/>
          </a:bodyPr>
          <a:lstStyle/>
          <a:p>
            <a:pPr>
              <a:defRPr b="1" sz="1300">
                <a:solidFill>
                  <a:srgbClr val="1A365D"/>
                </a:solidFill>
              </a:defRPr>
            </a:pPr>
            <a:r>
              <a:t>PROJECT METADATA &amp; TEAM:</a:t>
            </a:r>
          </a:p>
          <a:p>
            <a:pPr>
              <a:spcBef>
                <a:spcPts val="400"/>
              </a:spcBef>
              <a:defRPr sz="1300">
                <a:solidFill>
                  <a:srgbClr val="2D3748"/>
                </a:solidFill>
              </a:defRPr>
            </a:pPr>
            <a:r>
              <a:t>• Student 1: MIRUNJAI SURESH KUMAR (SRN: PES1UG24AM161)</a:t>
            </a:r>
          </a:p>
          <a:p>
            <a:pPr>
              <a:defRPr sz="1300">
                <a:solidFill>
                  <a:srgbClr val="2D3748"/>
                </a:solidFill>
              </a:defRPr>
            </a:pPr>
            <a:r>
              <a:t>• Student 2: MOHAMMED SINAN M T (SRN: PES1UG24AM165)</a:t>
            </a:r>
          </a:p>
          <a:p>
            <a:pPr>
              <a:spcBef>
                <a:spcPts val="800"/>
              </a:spcBef>
              <a:defRPr sz="1200">
                <a:solidFill>
                  <a:srgbClr val="718096"/>
                </a:solidFill>
              </a:defRPr>
            </a:pPr>
            <a:r>
              <a:t>• Course: UE24CS352A | Section: Sec-C | Team ID: C-22 (Team 22) | Project No: 31 | Date: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Problem Statement &amp; Disaster Management Motivation</a:t>
            </a:r>
          </a:p>
        </p:txBody>
      </p:sp>
      <p:sp>
        <p:nvSpPr>
          <p:cNvPr id="4" name="Rounded Rectangle 3"/>
          <p:cNvSpPr/>
          <p:nvPr/>
        </p:nvSpPr>
        <p:spPr>
          <a:xfrm>
            <a:off x="731520" y="1463040"/>
            <a:ext cx="512064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731520"/>
          </a:xfrm>
          <a:prstGeom prst="rect">
            <a:avLst/>
          </a:prstGeom>
          <a:noFill/>
        </p:spPr>
        <p:txBody>
          <a:bodyPr wrap="square">
            <a:spAutoFit/>
          </a:bodyPr>
          <a:lstStyle/>
          <a:p>
            <a:pPr>
              <a:defRPr sz="1500" b="1">
                <a:solidFill>
                  <a:srgbClr val="1A365D"/>
                </a:solidFill>
                <a:latin typeface="Arial"/>
              </a:defRPr>
            </a:pPr>
            <a:r>
              <a:t>The Real-World Challenge</a:t>
            </a:r>
          </a:p>
        </p:txBody>
      </p:sp>
      <p:sp>
        <p:nvSpPr>
          <p:cNvPr id="6" name="TextBox 5"/>
          <p:cNvSpPr txBox="1"/>
          <p:nvPr/>
        </p:nvSpPr>
        <p:spPr>
          <a:xfrm>
            <a:off x="914400" y="2286000"/>
            <a:ext cx="4754880" cy="3657600"/>
          </a:xfrm>
          <a:prstGeom prst="rect">
            <a:avLst/>
          </a:prstGeom>
          <a:noFill/>
        </p:spPr>
        <p:txBody>
          <a:bodyPr wrap="square">
            <a:spAutoFit/>
          </a:bodyPr>
          <a:lstStyle/>
          <a:p>
            <a:pPr>
              <a:defRPr sz="1300">
                <a:solidFill>
                  <a:srgbClr val="2D3748"/>
                </a:solidFill>
              </a:defRPr>
            </a:pPr>
            <a:r>
              <a:t>• Post-Disaster Bottleneck: Following major earthquakes or structural failures, thousands of buildings require immediate screening for occupancy safety.</a:t>
            </a:r>
          </a:p>
          <a:p>
            <a:pPr>
              <a:spcBef>
                <a:spcPts val="1000"/>
              </a:spcBef>
              <a:defRPr sz="1300"/>
            </a:pPr>
            <a:r>
              <a:t>• Critical Personnel Shortage: On-site inspection requires licensed civil and structural engineers. Conducting exhaustive visual audits takes weeks to months.</a:t>
            </a:r>
          </a:p>
          <a:p>
            <a:pPr>
              <a:spcBef>
                <a:spcPts val="1000"/>
              </a:spcBef>
              <a:defRPr sz="1300"/>
            </a:pPr>
            <a:r>
              <a:t>• Subjectivity &amp; Hazards: Manual visual triage under emergency conditions is inherently subjective and exposes inspection crews to hazardous aftershocks and collapsing masonry.</a:t>
            </a:r>
          </a:p>
        </p:txBody>
      </p:sp>
      <p:sp>
        <p:nvSpPr>
          <p:cNvPr id="7" name="Rounded Rectangle 6"/>
          <p:cNvSpPr/>
          <p:nvPr/>
        </p:nvSpPr>
        <p:spPr>
          <a:xfrm>
            <a:off x="6217920" y="1463040"/>
            <a:ext cx="521208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731520"/>
          </a:xfrm>
          <a:prstGeom prst="rect">
            <a:avLst/>
          </a:prstGeom>
          <a:noFill/>
        </p:spPr>
        <p:txBody>
          <a:bodyPr wrap="square">
            <a:spAutoFit/>
          </a:bodyPr>
          <a:lstStyle/>
          <a:p>
            <a:pPr>
              <a:defRPr sz="1500" b="1">
                <a:solidFill>
                  <a:srgbClr val="1A365D"/>
                </a:solidFill>
                <a:latin typeface="Arial"/>
              </a:defRPr>
            </a:pPr>
            <a:r>
              <a:t>Engineering Objectives</a:t>
            </a:r>
          </a:p>
        </p:txBody>
      </p:sp>
      <p:sp>
        <p:nvSpPr>
          <p:cNvPr id="9" name="TextBox 8"/>
          <p:cNvSpPr txBox="1"/>
          <p:nvPr/>
        </p:nvSpPr>
        <p:spPr>
          <a:xfrm>
            <a:off x="6400800" y="2286000"/>
            <a:ext cx="4846320" cy="3657600"/>
          </a:xfrm>
          <a:prstGeom prst="rect">
            <a:avLst/>
          </a:prstGeom>
          <a:noFill/>
        </p:spPr>
        <p:txBody>
          <a:bodyPr wrap="square">
            <a:spAutoFit/>
          </a:bodyPr>
          <a:lstStyle/>
          <a:p>
            <a:pPr>
              <a:defRPr sz="1300">
                <a:solidFill>
                  <a:srgbClr val="2D3748"/>
                </a:solidFill>
              </a:defRPr>
            </a:pPr>
            <a:r>
              <a:t>1. Binary Classification: Formulate a computer vision model to automatically categorize structural elements into Damaged (0) vs. Undamaged (1).</a:t>
            </a:r>
          </a:p>
          <a:p>
            <a:pPr>
              <a:spcBef>
                <a:spcPts val="1000"/>
              </a:spcBef>
              <a:defRPr sz="1300"/>
            </a:pPr>
            <a:r>
              <a:t>2. Resource Efficiency: Design a memory-mapped, feature-cached data pipeline that trains efficiently within consumer hardware limits (Intel Core i3, 8 GB RAM) without out-of-memory crashes.</a:t>
            </a:r>
          </a:p>
          <a:p>
            <a:pPr>
              <a:spcBef>
                <a:spcPts val="1000"/>
              </a:spcBef>
              <a:defRPr sz="1300"/>
            </a:pPr>
            <a:r>
              <a:t>3. Rigorous Evaluation: Benchmark strictly on the official held-out test set (1,460 samples) with comprehensive precision, recall, and ROC-AUC metrics.</a:t>
            </a:r>
          </a:p>
          <a:p>
            <a:pPr>
              <a:spcBef>
                <a:spcPts val="1000"/>
              </a:spcBef>
              <a:defRPr sz="1300"/>
            </a:pPr>
            <a:r>
              <a:t>4. Interactive Prototype: Deploy a working Streamlit application for single-photograph inference.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Dataset Overview: PEER Hub ImageNet (Phi-Net)</a:t>
            </a:r>
          </a:p>
        </p:txBody>
      </p:sp>
      <p:sp>
        <p:nvSpPr>
          <p:cNvPr id="4" name="Rounded Rectangle 3"/>
          <p:cNvSpPr/>
          <p:nvPr/>
        </p:nvSpPr>
        <p:spPr>
          <a:xfrm>
            <a:off x="731520" y="1463040"/>
            <a:ext cx="10698480" cy="210312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731520"/>
          </a:xfrm>
          <a:prstGeom prst="rect">
            <a:avLst/>
          </a:prstGeom>
          <a:noFill/>
        </p:spPr>
        <p:txBody>
          <a:bodyPr wrap="square">
            <a:spAutoFit/>
          </a:bodyPr>
          <a:lstStyle/>
          <a:p>
            <a:pPr>
              <a:defRPr sz="1500" b="1">
                <a:solidFill>
                  <a:srgbClr val="1A365D"/>
                </a:solidFill>
                <a:latin typeface="Arial"/>
              </a:defRPr>
            </a:pPr>
            <a:r>
              <a:t>Benchmark Dataset Properties</a:t>
            </a:r>
          </a:p>
        </p:txBody>
      </p:sp>
      <p:sp>
        <p:nvSpPr>
          <p:cNvPr id="6" name="TextBox 5"/>
          <p:cNvSpPr txBox="1"/>
          <p:nvPr/>
        </p:nvSpPr>
        <p:spPr>
          <a:xfrm>
            <a:off x="914400" y="2103120"/>
            <a:ext cx="10332720" cy="1280160"/>
          </a:xfrm>
          <a:prstGeom prst="rect">
            <a:avLst/>
          </a:prstGeom>
          <a:noFill/>
        </p:spPr>
        <p:txBody>
          <a:bodyPr wrap="square">
            <a:spAutoFit/>
          </a:bodyPr>
          <a:lstStyle/>
          <a:p>
            <a:pPr>
              <a:defRPr sz="1300">
                <a:solidFill>
                  <a:srgbClr val="2D3748"/>
                </a:solidFill>
              </a:defRPr>
            </a:pPr>
            <a:r>
              <a:t>• Source: PEER Hub ImageNet (Phi-Net) — Task 2: Damage State (Gao &amp; Mosalam, UC Berkeley, 2018; 2020).</a:t>
            </a:r>
          </a:p>
          <a:p>
            <a:pPr>
              <a:defRPr sz="1300"/>
            </a:pPr>
            <a:r>
              <a:t>• Structural Focus: Standardized 224x224x3 photographs of concrete columns, beams, shear walls, and masonry facades.</a:t>
            </a:r>
          </a:p>
          <a:p>
            <a:pPr>
              <a:defRPr sz="1300"/>
            </a:pPr>
            <a:r>
              <a:t>• Label Convention: Class 0 = Damaged (D), Class 1 = Undamaged (UD). Two-column one-hot float32 vectors.</a:t>
            </a:r>
          </a:p>
        </p:txBody>
      </p:sp>
      <p:sp>
        <p:nvSpPr>
          <p:cNvPr id="7" name="Rounded Rectangle 6"/>
          <p:cNvSpPr/>
          <p:nvPr/>
        </p:nvSpPr>
        <p:spPr>
          <a:xfrm>
            <a:off x="731520" y="3840480"/>
            <a:ext cx="5120640" cy="237744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77640"/>
            <a:ext cx="4754880" cy="731520"/>
          </a:xfrm>
          <a:prstGeom prst="rect">
            <a:avLst/>
          </a:prstGeom>
          <a:noFill/>
        </p:spPr>
        <p:txBody>
          <a:bodyPr wrap="square">
            <a:spAutoFit/>
          </a:bodyPr>
          <a:lstStyle/>
          <a:p>
            <a:pPr>
              <a:defRPr sz="1500" b="1">
                <a:solidFill>
                  <a:srgbClr val="1A365D"/>
                </a:solidFill>
                <a:latin typeface="Arial"/>
              </a:defRPr>
            </a:pPr>
            <a:r>
              <a:t>Training Set (11,811 Samples)</a:t>
            </a:r>
          </a:p>
        </p:txBody>
      </p:sp>
      <p:sp>
        <p:nvSpPr>
          <p:cNvPr id="9" name="TextBox 8"/>
          <p:cNvSpPr txBox="1"/>
          <p:nvPr/>
        </p:nvSpPr>
        <p:spPr>
          <a:xfrm>
            <a:off x="914400" y="4389120"/>
            <a:ext cx="4754880" cy="1645920"/>
          </a:xfrm>
          <a:prstGeom prst="rect">
            <a:avLst/>
          </a:prstGeom>
          <a:noFill/>
        </p:spPr>
        <p:txBody>
          <a:bodyPr wrap="square">
            <a:spAutoFit/>
          </a:bodyPr>
          <a:lstStyle/>
          <a:p>
            <a:pPr>
              <a:defRPr sz="1300"/>
            </a:pPr>
            <a:r>
              <a:t>• Array Size on Disk: ~6.62 GiB (task2_X_train.npy)</a:t>
            </a:r>
          </a:p>
          <a:p>
            <a:pPr>
              <a:defRPr sz="1300"/>
            </a:pPr>
            <a:r>
              <a:t>• Damaged (Class 0): 6,282 samples (53.19%)</a:t>
            </a:r>
          </a:p>
          <a:p>
            <a:pPr>
              <a:defRPr sz="1300"/>
            </a:pPr>
            <a:r>
              <a:t>• Undamaged (Class 1): 5,529 samples (46.81%)</a:t>
            </a:r>
          </a:p>
          <a:p>
            <a:pPr>
              <a:defRPr sz="1300"/>
            </a:pPr>
            <a:r>
              <a:t>• Split: 80% Train (9,448) / 20% Val (2,363) stratified.</a:t>
            </a:r>
          </a:p>
        </p:txBody>
      </p:sp>
      <p:sp>
        <p:nvSpPr>
          <p:cNvPr id="10" name="Rounded Rectangle 9"/>
          <p:cNvSpPr/>
          <p:nvPr/>
        </p:nvSpPr>
        <p:spPr>
          <a:xfrm>
            <a:off x="6217920" y="3840480"/>
            <a:ext cx="5212080" cy="237744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977640"/>
            <a:ext cx="4846320" cy="731520"/>
          </a:xfrm>
          <a:prstGeom prst="rect">
            <a:avLst/>
          </a:prstGeom>
          <a:noFill/>
        </p:spPr>
        <p:txBody>
          <a:bodyPr wrap="square">
            <a:spAutoFit/>
          </a:bodyPr>
          <a:lstStyle/>
          <a:p>
            <a:pPr>
              <a:defRPr sz="1500" b="1">
                <a:solidFill>
                  <a:srgbClr val="1A365D"/>
                </a:solidFill>
                <a:latin typeface="Arial"/>
              </a:defRPr>
            </a:pPr>
            <a:r>
              <a:t>Official Test Set (1,460 Samples)</a:t>
            </a:r>
          </a:p>
        </p:txBody>
      </p:sp>
      <p:sp>
        <p:nvSpPr>
          <p:cNvPr id="12" name="TextBox 11"/>
          <p:cNvSpPr txBox="1"/>
          <p:nvPr/>
        </p:nvSpPr>
        <p:spPr>
          <a:xfrm>
            <a:off x="6400800" y="4389120"/>
            <a:ext cx="4846320" cy="1645920"/>
          </a:xfrm>
          <a:prstGeom prst="rect">
            <a:avLst/>
          </a:prstGeom>
          <a:noFill/>
        </p:spPr>
        <p:txBody>
          <a:bodyPr wrap="square">
            <a:spAutoFit/>
          </a:bodyPr>
          <a:lstStyle/>
          <a:p>
            <a:pPr>
              <a:defRPr sz="1300"/>
            </a:pPr>
            <a:r>
              <a:t>• Array Size on Disk: ~838.36 MiB (task2_X_test.npy)</a:t>
            </a:r>
          </a:p>
          <a:p>
            <a:pPr>
              <a:defRPr sz="1300"/>
            </a:pPr>
            <a:r>
              <a:t>• Damaged (Class 0): 745 samples (51.03%)</a:t>
            </a:r>
          </a:p>
          <a:p>
            <a:pPr>
              <a:defRPr sz="1300"/>
            </a:pPr>
            <a:r>
              <a:t>• Undamaged (Class 1): 715 samples (48.97%)</a:t>
            </a:r>
          </a:p>
          <a:p>
            <a:pPr>
              <a:defRPr sz="1300"/>
            </a:pPr>
            <a:r>
              <a:t>• Protocol: Held strictly out of training and hyperparameter tuning.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Data Preprocessing &amp; Memory-Efficient Engineering</a:t>
            </a:r>
          </a:p>
        </p:txBody>
      </p:sp>
      <p:sp>
        <p:nvSpPr>
          <p:cNvPr id="4" name="Rounded Rectangle 3"/>
          <p:cNvSpPr/>
          <p:nvPr/>
        </p:nvSpPr>
        <p:spPr>
          <a:xfrm>
            <a:off x="731520" y="1463040"/>
            <a:ext cx="512064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731520"/>
          </a:xfrm>
          <a:prstGeom prst="rect">
            <a:avLst/>
          </a:prstGeom>
          <a:noFill/>
        </p:spPr>
        <p:txBody>
          <a:bodyPr wrap="square">
            <a:spAutoFit/>
          </a:bodyPr>
          <a:lstStyle/>
          <a:p>
            <a:pPr>
              <a:defRPr sz="1500" b="1">
                <a:solidFill>
                  <a:srgbClr val="1A365D"/>
                </a:solidFill>
                <a:latin typeface="Arial"/>
              </a:defRPr>
            </a:pPr>
            <a:r>
              <a:t>Caffe BGR Restoration vs. Inference</a:t>
            </a:r>
          </a:p>
        </p:txBody>
      </p:sp>
      <p:sp>
        <p:nvSpPr>
          <p:cNvPr id="6" name="TextBox 5"/>
          <p:cNvSpPr txBox="1"/>
          <p:nvPr/>
        </p:nvSpPr>
        <p:spPr>
          <a:xfrm>
            <a:off x="914400" y="2194560"/>
            <a:ext cx="4754880" cy="3840480"/>
          </a:xfrm>
          <a:prstGeom prst="rect">
            <a:avLst/>
          </a:prstGeom>
          <a:noFill/>
        </p:spPr>
        <p:txBody>
          <a:bodyPr wrap="square">
            <a:spAutoFit/>
          </a:bodyPr>
          <a:lstStyle/>
          <a:p>
            <a:pPr>
              <a:defRPr sz="1200"/>
            </a:pPr>
            <a:r>
              <a:t>• Dataset Storage Quirk: The raw .npy arrays stored images with Caffe-style BGR ImageNet mean subtraction: [103.939, 116.779, 123.68]. Value range was [-123.68, 151.06].</a:t>
            </a:r>
          </a:p>
          <a:p>
            <a:pPr>
              <a:spcBef>
                <a:spcPts val="800"/>
              </a:spcBef>
              <a:defRPr sz="1200"/>
            </a:pPr>
            <a:r>
              <a:t>• Training Transformation: Added back channel means, clipped to [0, 255], converted BGR -&gt; RGB, and scaled to [-1, 1] via (x / 127.5) - 1.0.</a:t>
            </a:r>
          </a:p>
          <a:p>
            <a:pPr>
              <a:spcBef>
                <a:spcPts val="800"/>
              </a:spcBef>
              <a:defRPr sz="1200"/>
            </a:pPr>
            <a:r>
              <a:t>• Inference Safety: Uploaded user photographs (JPG/PNG) are ALREADY standard RGB [0, 255]. Our preprocessing module specifically avoids BGR mean addition for uploads, performing Lanczos resize to 224x224 and [-1, 1] scaling directly.</a:t>
            </a:r>
          </a:p>
        </p:txBody>
      </p:sp>
      <p:sp>
        <p:nvSpPr>
          <p:cNvPr id="7" name="Rounded Rectangle 6"/>
          <p:cNvSpPr/>
          <p:nvPr/>
        </p:nvSpPr>
        <p:spPr>
          <a:xfrm>
            <a:off x="6217920" y="1463040"/>
            <a:ext cx="521208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731520"/>
          </a:xfrm>
          <a:prstGeom prst="rect">
            <a:avLst/>
          </a:prstGeom>
          <a:noFill/>
        </p:spPr>
        <p:txBody>
          <a:bodyPr wrap="square">
            <a:spAutoFit/>
          </a:bodyPr>
          <a:lstStyle/>
          <a:p>
            <a:pPr>
              <a:defRPr sz="1500" b="1">
                <a:solidFill>
                  <a:srgbClr val="1A365D"/>
                </a:solidFill>
                <a:latin typeface="Arial"/>
              </a:defRPr>
            </a:pPr>
            <a:r>
              <a:t>Resumable Disk-Backed Caching</a:t>
            </a:r>
          </a:p>
        </p:txBody>
      </p:sp>
      <p:sp>
        <p:nvSpPr>
          <p:cNvPr id="9" name="TextBox 8"/>
          <p:cNvSpPr txBox="1"/>
          <p:nvPr/>
        </p:nvSpPr>
        <p:spPr>
          <a:xfrm>
            <a:off x="6400800" y="2194560"/>
            <a:ext cx="4846320" cy="3840480"/>
          </a:xfrm>
          <a:prstGeom prst="rect">
            <a:avLst/>
          </a:prstGeom>
          <a:noFill/>
        </p:spPr>
        <p:txBody>
          <a:bodyPr wrap="square">
            <a:spAutoFit/>
          </a:bodyPr>
          <a:lstStyle/>
          <a:p>
            <a:pPr>
              <a:defRPr sz="1200"/>
            </a:pPr>
            <a:r>
              <a:t>• The 8 GB RAM Limit: Loading the 6.6 GiB training array plus model weights easily triggers Windows out-of-memory aborts.</a:t>
            </a:r>
          </a:p>
          <a:p>
            <a:pPr>
              <a:spcBef>
                <a:spcPts val="800"/>
              </a:spcBef>
              <a:defRPr sz="1200"/>
            </a:pPr>
            <a:r>
              <a:t>• Memory-Mapped Reading: Arrays are opened with np.load(..., mmap_mode='r'), reading only the current mini-batch (size 8).</a:t>
            </a:r>
          </a:p>
          <a:p>
            <a:pPr>
              <a:spcBef>
                <a:spcPts val="800"/>
              </a:spcBef>
              <a:defRPr sz="1200"/>
            </a:pPr>
            <a:r>
              <a:t>• Disk-Backed Output Allocation: Extracted 1,280-dim feature vectors are written directly to disk sectors via np.lib.format.open_memmap (~60 MB cache file).</a:t>
            </a:r>
          </a:p>
          <a:p>
            <a:pPr>
              <a:spcBef>
                <a:spcPts val="800"/>
              </a:spcBef>
              <a:defRPr sz="1200"/>
            </a:pPr>
            <a:r>
              <a:t>• Resumption Checkpoint: An atomic .meta.json sidecar tracks completed batches. If extraction is interrupted, it resumes from the exact last batch.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Model Architecture &amp; Transfer Learning Strategy</a:t>
            </a:r>
          </a:p>
        </p:txBody>
      </p:sp>
      <p:sp>
        <p:nvSpPr>
          <p:cNvPr id="4" name="Rounded Rectangle 3"/>
          <p:cNvSpPr/>
          <p:nvPr/>
        </p:nvSpPr>
        <p:spPr>
          <a:xfrm>
            <a:off x="731520" y="1463040"/>
            <a:ext cx="1069848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731520"/>
          </a:xfrm>
          <a:prstGeom prst="rect">
            <a:avLst/>
          </a:prstGeom>
          <a:noFill/>
        </p:spPr>
        <p:txBody>
          <a:bodyPr wrap="square">
            <a:spAutoFit/>
          </a:bodyPr>
          <a:lstStyle/>
          <a:p>
            <a:pPr>
              <a:defRPr sz="1500" b="1">
                <a:solidFill>
                  <a:srgbClr val="1A365D"/>
                </a:solidFill>
                <a:latin typeface="Arial"/>
              </a:defRPr>
            </a:pPr>
            <a:r>
              <a:t>MobileNetV2 Feature Extractor + Lightweight Classification Head</a:t>
            </a:r>
          </a:p>
        </p:txBody>
      </p:sp>
      <p:sp>
        <p:nvSpPr>
          <p:cNvPr id="6" name="TextBox 5"/>
          <p:cNvSpPr txBox="1"/>
          <p:nvPr/>
        </p:nvSpPr>
        <p:spPr>
          <a:xfrm>
            <a:off x="914400" y="2194560"/>
            <a:ext cx="10332720" cy="3840480"/>
          </a:xfrm>
          <a:prstGeom prst="rect">
            <a:avLst/>
          </a:prstGeom>
          <a:noFill/>
        </p:spPr>
        <p:txBody>
          <a:bodyPr wrap="square">
            <a:spAutoFit/>
          </a:bodyPr>
          <a:lstStyle/>
          <a:p>
            <a:pPr>
              <a:defRPr sz="1300">
                <a:solidFill>
                  <a:srgbClr val="2D3748"/>
                </a:solidFill>
              </a:defRPr>
            </a:pPr>
            <a:r>
              <a:t>1. Pretrained Backbone: MobileNetV2 (Sandler et al., 2018) instantiated without top head (include_top=False). Contains 2,257,984 frozen parameters in depthwise separable convolution blocks.</a:t>
            </a:r>
          </a:p>
          <a:p>
            <a:pPr>
              <a:spcBef>
                <a:spcPts val="1000"/>
              </a:spcBef>
              <a:defRPr sz="1300"/>
            </a:pPr>
            <a:r>
              <a:t>2. Frozen Weights: All convolutional layers are frozen (trainable = False). Rich low-level and mid-level edge, texture, and crack feature representations from ImageNet are preserved without gradient computation.</a:t>
            </a:r>
          </a:p>
          <a:p>
            <a:pPr>
              <a:spcBef>
                <a:spcPts val="1000"/>
              </a:spcBef>
              <a:defRPr sz="1300"/>
            </a:pPr>
            <a:r>
              <a:t>3. Dimensionality Reduction: GlobalAveragePooling2D condenses spatial feature maps into a compact 1,280-dimensional feature vector per image.</a:t>
            </a:r>
          </a:p>
          <a:p>
            <a:pPr>
              <a:spcBef>
                <a:spcPts val="1000"/>
              </a:spcBef>
              <a:defRPr sz="1300"/>
            </a:pPr>
            <a:r>
              <a:t>4. Dense Classification Head (82,114 Trainable Parameters):</a:t>
            </a:r>
          </a:p>
          <a:p>
            <a:pPr>
              <a:spcBef>
                <a:spcPts val="400"/>
              </a:spcBef>
              <a:defRPr sz="1200">
                <a:solidFill>
                  <a:srgbClr val="718096"/>
                </a:solidFill>
              </a:defRPr>
            </a:pPr>
            <a:r>
              <a:t>   • Dropout Layer (rate = 0.4) — Prevents co-adaptation and regularizes extracted features.</a:t>
            </a:r>
            <a:br/>
            <a:r>
              <a:t>   • Dense Layer (64 units, ReLU) — Learns non-linear combinations of structural features (81,984 params).</a:t>
            </a:r>
            <a:br/>
            <a:r>
              <a:t>   • Output Dense Layer (2 units, Softmax) — Produces class prediction scores [Damaged, Undamaged] (130 params).</a:t>
            </a:r>
            <a:br/>
            <a:r>
              <a:t>   • Total Model Parameters: 2,340,098 (82,114 trainable, 2,257,984 frozen non-trainable).</a:t>
            </a:r>
          </a:p>
          <a:p>
            <a:pPr>
              <a:spcBef>
                <a:spcPts val="1000"/>
              </a:spcBef>
              <a:defRPr sz="1300">
                <a:solidFill>
                  <a:srgbClr val="2B6CB0"/>
                </a:solidFill>
              </a:defRPr>
            </a:pPr>
            <a:r>
              <a:t>5. Resource Efficiency: Feature caching on disk allows training the classification head on CPU in ~20-30 seconds without out-of-memory errors.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Training Convergence &amp; Learning Curves</a:t>
            </a:r>
          </a:p>
        </p:txBody>
      </p:sp>
      <p:pic>
        <p:nvPicPr>
          <p:cNvPr id="4" name="Picture 3" descr="training_curves.png"/>
          <p:cNvPicPr>
            <a:picLocks noChangeAspect="1"/>
          </p:cNvPicPr>
          <p:nvPr/>
        </p:nvPicPr>
        <p:blipFill>
          <a:blip r:embed="rId2"/>
          <a:stretch>
            <a:fillRect/>
          </a:stretch>
        </p:blipFill>
        <p:spPr>
          <a:xfrm>
            <a:off x="731520" y="1463040"/>
            <a:ext cx="6217920" cy="2072640"/>
          </a:xfrm>
          <a:prstGeom prst="rect">
            <a:avLst/>
          </a:prstGeom>
        </p:spPr>
      </p:pic>
      <p:sp>
        <p:nvSpPr>
          <p:cNvPr id="5" name="Rounded Rectangle 4"/>
          <p:cNvSpPr/>
          <p:nvPr/>
        </p:nvSpPr>
        <p:spPr>
          <a:xfrm>
            <a:off x="7132320" y="1463040"/>
            <a:ext cx="429768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600200"/>
            <a:ext cx="3931920" cy="731520"/>
          </a:xfrm>
          <a:prstGeom prst="rect">
            <a:avLst/>
          </a:prstGeom>
          <a:noFill/>
        </p:spPr>
        <p:txBody>
          <a:bodyPr wrap="square">
            <a:spAutoFit/>
          </a:bodyPr>
          <a:lstStyle/>
          <a:p>
            <a:pPr>
              <a:defRPr sz="1500" b="1">
                <a:solidFill>
                  <a:srgbClr val="1A365D"/>
                </a:solidFill>
                <a:latin typeface="Arial"/>
              </a:defRPr>
            </a:pPr>
            <a:r>
              <a:t>Training Dynamics Analysis</a:t>
            </a:r>
          </a:p>
        </p:txBody>
      </p:sp>
      <p:sp>
        <p:nvSpPr>
          <p:cNvPr id="7" name="TextBox 6"/>
          <p:cNvSpPr txBox="1"/>
          <p:nvPr/>
        </p:nvSpPr>
        <p:spPr>
          <a:xfrm>
            <a:off x="7315200" y="2194560"/>
            <a:ext cx="3931920" cy="3840480"/>
          </a:xfrm>
          <a:prstGeom prst="rect">
            <a:avLst/>
          </a:prstGeom>
          <a:noFill/>
        </p:spPr>
        <p:txBody>
          <a:bodyPr wrap="square">
            <a:spAutoFit/>
          </a:bodyPr>
          <a:lstStyle/>
          <a:p>
            <a:pPr>
              <a:defRPr sz="1200">
                <a:solidFill>
                  <a:srgbClr val="2D3748"/>
                </a:solidFill>
              </a:defRPr>
            </a:pPr>
            <a:r>
              <a:t>• Convergence: 19 epochs total. EarlyStopping restored best model weights at epoch 14.</a:t>
            </a:r>
          </a:p>
          <a:p>
            <a:pPr>
              <a:spcBef>
                <a:spcPts val="800"/>
              </a:spcBef>
              <a:defRPr sz="1200"/>
            </a:pPr>
            <a:r>
              <a:t>• Loss Trajectory: Training loss decreased monotonically from 0.52 to 0.22. Validation loss stabilized at 0.34.</a:t>
            </a:r>
          </a:p>
          <a:p>
            <a:pPr>
              <a:spcBef>
                <a:spcPts val="800"/>
              </a:spcBef>
              <a:defRPr sz="1200"/>
            </a:pPr>
            <a:r>
              <a:t>• Generalization Gap: Validation accuracy stabilized at 85.7% against 91.0% training accuracy. The small 5.3% gap demonstrates healthy generalization without severe overfitting.</a:t>
            </a:r>
          </a:p>
          <a:p>
            <a:pPr>
              <a:spcBef>
                <a:spcPts val="800"/>
              </a:spcBef>
              <a:defRPr sz="1200"/>
            </a:pPr>
            <a:r>
              <a:t>• Learning Rate Scheduling: ReduceLROnPlateau halved learning rate from 0.001 to 0.0005, fine-tuning convergence around the loss minimum.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Official Benchmark Test Results (1,460 Samples)</a:t>
            </a:r>
          </a:p>
        </p:txBody>
      </p:sp>
      <p:pic>
        <p:nvPicPr>
          <p:cNvPr id="4" name="Picture 3" descr="confusion_matrix.png"/>
          <p:cNvPicPr>
            <a:picLocks noChangeAspect="1"/>
          </p:cNvPicPr>
          <p:nvPr/>
        </p:nvPicPr>
        <p:blipFill>
          <a:blip r:embed="rId2"/>
          <a:stretch>
            <a:fillRect/>
          </a:stretch>
        </p:blipFill>
        <p:spPr>
          <a:xfrm>
            <a:off x="731520" y="1463040"/>
            <a:ext cx="4572000" cy="3810000"/>
          </a:xfrm>
          <a:prstGeom prst="rect">
            <a:avLst/>
          </a:prstGeom>
        </p:spPr>
      </p:pic>
      <p:sp>
        <p:nvSpPr>
          <p:cNvPr id="5" name="Rounded Rectangle 4"/>
          <p:cNvSpPr/>
          <p:nvPr/>
        </p:nvSpPr>
        <p:spPr>
          <a:xfrm>
            <a:off x="5486400" y="1463040"/>
            <a:ext cx="594360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0" y="1600200"/>
            <a:ext cx="5577840" cy="731520"/>
          </a:xfrm>
          <a:prstGeom prst="rect">
            <a:avLst/>
          </a:prstGeom>
          <a:noFill/>
        </p:spPr>
        <p:txBody>
          <a:bodyPr wrap="square">
            <a:spAutoFit/>
          </a:bodyPr>
          <a:lstStyle/>
          <a:p>
            <a:pPr>
              <a:defRPr sz="1500" b="1">
                <a:solidFill>
                  <a:srgbClr val="1A365D"/>
                </a:solidFill>
                <a:latin typeface="Arial"/>
              </a:defRPr>
            </a:pPr>
            <a:r>
              <a:t>Key Performance Indicators</a:t>
            </a:r>
          </a:p>
        </p:txBody>
      </p:sp>
      <p:sp>
        <p:nvSpPr>
          <p:cNvPr id="7" name="TextBox 6"/>
          <p:cNvSpPr txBox="1"/>
          <p:nvPr/>
        </p:nvSpPr>
        <p:spPr>
          <a:xfrm>
            <a:off x="5669280" y="2103120"/>
            <a:ext cx="5577840" cy="3931920"/>
          </a:xfrm>
          <a:prstGeom prst="rect">
            <a:avLst/>
          </a:prstGeom>
          <a:noFill/>
        </p:spPr>
        <p:txBody>
          <a:bodyPr wrap="square">
            <a:spAutoFit/>
          </a:bodyPr>
          <a:lstStyle/>
          <a:p>
            <a:pPr>
              <a:defRPr sz="1400" b="1">
                <a:solidFill>
                  <a:srgbClr val="1A365D"/>
                </a:solidFill>
              </a:defRPr>
            </a:pPr>
            <a:r>
              <a:t>• Official Test Accuracy: 84.25% (1,230 / 1,460 correct)</a:t>
            </a:r>
          </a:p>
          <a:p>
            <a:pPr>
              <a:spcBef>
                <a:spcPts val="600"/>
              </a:spcBef>
              <a:defRPr sz="1300" b="1">
                <a:solidFill>
                  <a:srgbClr val="2B6CB0"/>
                </a:solidFill>
              </a:defRPr>
            </a:pPr>
            <a:r>
              <a:t>• ROC-AUC (Damaged Target): 0.9289 (Excellent discriminative power)</a:t>
            </a:r>
          </a:p>
          <a:p>
            <a:pPr>
              <a:spcBef>
                <a:spcPts val="800"/>
              </a:spcBef>
              <a:defRPr sz="1200"/>
            </a:pPr>
            <a:r>
              <a:t>• Damaged Class (Class 0): Precision = 83.7% | Recall = 85.9% | F1 = 0.85</a:t>
            </a:r>
          </a:p>
          <a:p>
            <a:pPr>
              <a:spcBef>
                <a:spcPts val="400"/>
              </a:spcBef>
              <a:defRPr sz="1200"/>
            </a:pPr>
            <a:r>
              <a:t>• Undamaged Class (Class 1): Precision = 84.9% | Recall = 82.5% | F1 = 0.84</a:t>
            </a:r>
          </a:p>
          <a:p>
            <a:pPr>
              <a:spcBef>
                <a:spcPts val="800"/>
              </a:spcBef>
              <a:defRPr sz="1100">
                <a:solidFill>
                  <a:srgbClr val="2D3748"/>
                </a:solidFill>
              </a:defRPr>
            </a:pPr>
            <a:r>
              <a:t>• Confusion Matrix Breakdown:</a:t>
            </a:r>
            <a:br/>
            <a:r>
              <a:t>   - True Positives (Damaged detected): 640</a:t>
            </a:r>
            <a:br/>
            <a:r>
              <a:t>   - True Negatives (Undamaged detected): 590</a:t>
            </a:r>
            <a:br/>
            <a:r>
              <a:t>   - False Positives (False alarms): 125 (17.5%)</a:t>
            </a:r>
            <a:br/>
            <a:r>
              <a:t>   - False Negatives (Missed damage): 105 (14.1%)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Diagnostic Error Analysis</a:t>
            </a:r>
          </a:p>
        </p:txBody>
      </p:sp>
      <p:sp>
        <p:nvSpPr>
          <p:cNvPr id="4" name="Rounded Rectangle 3"/>
          <p:cNvSpPr/>
          <p:nvPr/>
        </p:nvSpPr>
        <p:spPr>
          <a:xfrm>
            <a:off x="731520" y="1463040"/>
            <a:ext cx="512064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731520"/>
          </a:xfrm>
          <a:prstGeom prst="rect">
            <a:avLst/>
          </a:prstGeom>
          <a:noFill/>
        </p:spPr>
        <p:txBody>
          <a:bodyPr wrap="square">
            <a:spAutoFit/>
          </a:bodyPr>
          <a:lstStyle/>
          <a:p>
            <a:pPr>
              <a:defRPr sz="1500" b="1">
                <a:solidFill>
                  <a:srgbClr val="1A365D"/>
                </a:solidFill>
                <a:latin typeface="Arial"/>
              </a:defRPr>
            </a:pPr>
            <a:r>
              <a:t>False Negatives: 105 Images (14.1% Miss Rate)</a:t>
            </a:r>
          </a:p>
          <a:p>
            <a:pPr>
              <a:defRPr sz="1100">
                <a:solidFill>
                  <a:srgbClr val="718096"/>
                </a:solidFill>
                <a:latin typeface="Arial"/>
              </a:defRPr>
            </a:pPr>
            <a:r>
              <a:t>Damaged structures misclassified as Undamaged</a:t>
            </a:r>
          </a:p>
        </p:txBody>
      </p:sp>
      <p:sp>
        <p:nvSpPr>
          <p:cNvPr id="6" name="TextBox 5"/>
          <p:cNvSpPr txBox="1"/>
          <p:nvPr/>
        </p:nvSpPr>
        <p:spPr>
          <a:xfrm>
            <a:off x="914400" y="2377440"/>
            <a:ext cx="4754880" cy="3657600"/>
          </a:xfrm>
          <a:prstGeom prst="rect">
            <a:avLst/>
          </a:prstGeom>
          <a:noFill/>
        </p:spPr>
        <p:txBody>
          <a:bodyPr wrap="square">
            <a:spAutoFit/>
          </a:bodyPr>
          <a:lstStyle/>
          <a:p>
            <a:pPr>
              <a:defRPr sz="1200">
                <a:solidFill>
                  <a:srgbClr val="2D3748"/>
                </a:solidFill>
              </a:defRPr>
            </a:pPr>
            <a:r>
              <a:t>• Hairline Cracking: Micro-fissures narrower than 2-3 pixels get smoothed out by the 224x224 downsampling.</a:t>
            </a:r>
          </a:p>
          <a:p>
            <a:pPr>
              <a:spcBef>
                <a:spcPts val="800"/>
              </a:spcBef>
              <a:defRPr sz="1200"/>
            </a:pPr>
            <a:r>
              <a:t>• Lighting &amp; Low Contrast: Severe direct sunlight or heavy shadows obscure surface fractures against gray concrete.</a:t>
            </a:r>
          </a:p>
          <a:p>
            <a:pPr>
              <a:spcBef>
                <a:spcPts val="800"/>
              </a:spcBef>
              <a:defRPr sz="1200"/>
            </a:pPr>
            <a:r>
              <a:t>• Peripheral Defects: Damage located on the extreme image borders where global average pooling assigns lower spatial saliency.</a:t>
            </a:r>
          </a:p>
        </p:txBody>
      </p:sp>
      <p:sp>
        <p:nvSpPr>
          <p:cNvPr id="7" name="Rounded Rectangle 6"/>
          <p:cNvSpPr/>
          <p:nvPr/>
        </p:nvSpPr>
        <p:spPr>
          <a:xfrm>
            <a:off x="6217920" y="1463040"/>
            <a:ext cx="521208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731520"/>
          </a:xfrm>
          <a:prstGeom prst="rect">
            <a:avLst/>
          </a:prstGeom>
          <a:noFill/>
        </p:spPr>
        <p:txBody>
          <a:bodyPr wrap="square">
            <a:spAutoFit/>
          </a:bodyPr>
          <a:lstStyle/>
          <a:p>
            <a:pPr>
              <a:defRPr sz="1500" b="1">
                <a:solidFill>
                  <a:srgbClr val="1A365D"/>
                </a:solidFill>
                <a:latin typeface="Arial"/>
              </a:defRPr>
            </a:pPr>
            <a:r>
              <a:t>False Positives: 125 Images (17.5% Alarm Rate)</a:t>
            </a:r>
          </a:p>
          <a:p>
            <a:pPr>
              <a:defRPr sz="1100">
                <a:solidFill>
                  <a:srgbClr val="718096"/>
                </a:solidFill>
                <a:latin typeface="Arial"/>
              </a:defRPr>
            </a:pPr>
            <a:r>
              <a:t>Undamaged structures misclassified as Damaged</a:t>
            </a:r>
          </a:p>
        </p:txBody>
      </p:sp>
      <p:sp>
        <p:nvSpPr>
          <p:cNvPr id="9" name="TextBox 8"/>
          <p:cNvSpPr txBox="1"/>
          <p:nvPr/>
        </p:nvSpPr>
        <p:spPr>
          <a:xfrm>
            <a:off x="6400800" y="2377440"/>
            <a:ext cx="4846320" cy="3657600"/>
          </a:xfrm>
          <a:prstGeom prst="rect">
            <a:avLst/>
          </a:prstGeom>
          <a:noFill/>
        </p:spPr>
        <p:txBody>
          <a:bodyPr wrap="square">
            <a:spAutoFit/>
          </a:bodyPr>
          <a:lstStyle/>
          <a:p>
            <a:pPr>
              <a:defRPr sz="1200">
                <a:solidFill>
                  <a:srgbClr val="2D3748"/>
                </a:solidFill>
              </a:defRPr>
            </a:pPr>
            <a:r>
              <a:t>• Architectural Seams &amp; Mortar: Deep mortar lines in brickwork or textured rustic finishes mimic fracture patterns.</a:t>
            </a:r>
          </a:p>
          <a:p>
            <a:pPr>
              <a:spcBef>
                <a:spcPts val="800"/>
              </a:spcBef>
              <a:defRPr sz="1200"/>
            </a:pPr>
            <a:r>
              <a:t>• Surface Clutter &amp; Occlusions: Power lines, conduit pipes, drainage stains, or tree shadows cast linear fissure-like silhouettes.</a:t>
            </a:r>
          </a:p>
          <a:p>
            <a:r>
              <a:t>• Perspective Distortion: Extreme oblique camera angles distort straight architectural joints into apparent shear deformities.</a:t>
            </a:r>
          </a:p>
          <a:p>
            <a:pPr>
              <a:spcBef>
                <a:spcPts val="800"/>
              </a:spcBef>
              <a:defRPr sz="1100" i="1">
                <a:solidFill>
                  <a:srgbClr val="718096"/>
                </a:solidFill>
              </a:defRPr>
            </a:pPr>
            <a:r>
              <a:t>• Diagnostic Scope: These represent plausible visual failure modes identified during diagnostic review rather than on-site physical forensics.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Interactive Streamlit Application Demo</a:t>
            </a:r>
          </a:p>
        </p:txBody>
      </p:sp>
      <p:sp>
        <p:nvSpPr>
          <p:cNvPr id="4" name="Rounded Rectangle 3"/>
          <p:cNvSpPr/>
          <p:nvPr/>
        </p:nvSpPr>
        <p:spPr>
          <a:xfrm>
            <a:off x="731520" y="1463040"/>
            <a:ext cx="512064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731520"/>
          </a:xfrm>
          <a:prstGeom prst="rect">
            <a:avLst/>
          </a:prstGeom>
          <a:noFill/>
        </p:spPr>
        <p:txBody>
          <a:bodyPr wrap="square">
            <a:spAutoFit/>
          </a:bodyPr>
          <a:lstStyle/>
          <a:p>
            <a:pPr>
              <a:defRPr sz="1500" b="1">
                <a:solidFill>
                  <a:srgbClr val="1A365D"/>
                </a:solidFill>
                <a:latin typeface="Arial"/>
              </a:defRPr>
            </a:pPr>
            <a:r>
              <a:t>Streamlit Architecture (app.py)</a:t>
            </a:r>
          </a:p>
        </p:txBody>
      </p:sp>
      <p:sp>
        <p:nvSpPr>
          <p:cNvPr id="6" name="TextBox 5"/>
          <p:cNvSpPr txBox="1"/>
          <p:nvPr/>
        </p:nvSpPr>
        <p:spPr>
          <a:xfrm>
            <a:off x="914400" y="2194560"/>
            <a:ext cx="4754880" cy="3840480"/>
          </a:xfrm>
          <a:prstGeom prst="rect">
            <a:avLst/>
          </a:prstGeom>
          <a:noFill/>
        </p:spPr>
        <p:txBody>
          <a:bodyPr wrap="square">
            <a:spAutoFit/>
          </a:bodyPr>
          <a:lstStyle/>
          <a:p>
            <a:pPr>
              <a:defRPr sz="1200">
                <a:solidFill>
                  <a:srgbClr val="2D3748"/>
                </a:solidFill>
              </a:defRPr>
            </a:pPr>
            <a:r>
              <a:t>• Unified Inference Engine: Loads the unified end-to-end model (MobileNetV2 feature extractor + classification head) using @st.cache_resource.</a:t>
            </a:r>
          </a:p>
          <a:p>
            <a:pPr>
              <a:spcBef>
                <a:spcPts val="800"/>
              </a:spcBef>
              <a:defRPr sz="1200"/>
            </a:pPr>
            <a:r>
              <a:t>• Retracing Prevention: Uses model.predict_on_batch() to prevent repeated TensorFlow graph re-tracing overhead on single image calls.</a:t>
            </a:r>
          </a:p>
          <a:p>
            <a:pPr>
              <a:spcBef>
                <a:spcPts val="800"/>
              </a:spcBef>
              <a:defRPr sz="1200"/>
            </a:pPr>
            <a:r>
              <a:t>• Real-Time Metrics: Displays categorical prediction badge (🔴 Damaged / 🟢 Undamaged), model confidence score, and dual probability progress bars.</a:t>
            </a:r>
          </a:p>
          <a:p>
            <a:pPr>
              <a:spcBef>
                <a:spcPts val="800"/>
              </a:spcBef>
              <a:defRPr sz="1200" b="1">
                <a:solidFill>
                  <a:srgbClr val="2B6CB0"/>
                </a:solidFill>
              </a:defRPr>
            </a:pPr>
            <a:r>
              <a:t>• Execution Command:</a:t>
            </a:r>
            <a:br/>
            <a:r>
              <a:t>   streamlit run app.py</a:t>
            </a:r>
          </a:p>
        </p:txBody>
      </p:sp>
      <p:sp>
        <p:nvSpPr>
          <p:cNvPr id="7" name="Rounded Rectangle 6"/>
          <p:cNvSpPr/>
          <p:nvPr/>
        </p:nvSpPr>
        <p:spPr>
          <a:xfrm>
            <a:off x="6217920" y="1463040"/>
            <a:ext cx="521208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731520"/>
          </a:xfrm>
          <a:prstGeom prst="rect">
            <a:avLst/>
          </a:prstGeom>
          <a:noFill/>
        </p:spPr>
        <p:txBody>
          <a:bodyPr wrap="square">
            <a:spAutoFit/>
          </a:bodyPr>
          <a:lstStyle/>
          <a:p>
            <a:pPr>
              <a:defRPr sz="1500" b="1">
                <a:solidFill>
                  <a:srgbClr val="1A365D"/>
                </a:solidFill>
                <a:latin typeface="Arial"/>
              </a:defRPr>
            </a:pPr>
            <a:r>
              <a:t>Live Demonstration Protocol</a:t>
            </a:r>
          </a:p>
        </p:txBody>
      </p:sp>
      <p:sp>
        <p:nvSpPr>
          <p:cNvPr id="9" name="TextBox 8"/>
          <p:cNvSpPr txBox="1"/>
          <p:nvPr/>
        </p:nvSpPr>
        <p:spPr>
          <a:xfrm>
            <a:off x="6400800" y="2194560"/>
            <a:ext cx="4846320" cy="3840480"/>
          </a:xfrm>
          <a:prstGeom prst="rect">
            <a:avLst/>
          </a:prstGeom>
          <a:noFill/>
        </p:spPr>
        <p:txBody>
          <a:bodyPr wrap="square">
            <a:spAutoFit/>
          </a:bodyPr>
          <a:lstStyle/>
          <a:p>
            <a:pPr>
              <a:defRPr sz="1200">
                <a:solidFill>
                  <a:srgbClr val="2D3748"/>
                </a:solidFill>
              </a:defRPr>
            </a:pPr>
            <a:r>
              <a:t>1. Model Status: App verifies models/mobilenet_v2_damage_classifier.keras is loaded.</a:t>
            </a:r>
          </a:p>
          <a:p>
            <a:pPr>
              <a:spcBef>
                <a:spcPts val="800"/>
              </a:spcBef>
              <a:defRPr sz="1200"/>
            </a:pPr>
            <a:r>
              <a:t>2. Test Sample 1 (Damaged Structure): Demonstrates Damaged classification with clear visual fracture and class probability breakdown.</a:t>
            </a:r>
          </a:p>
          <a:p>
            <a:pPr>
              <a:spcBef>
                <a:spcPts val="800"/>
              </a:spcBef>
              <a:defRPr sz="1200"/>
            </a:pPr>
            <a:r>
              <a:t>3. Test Sample 2 (Sound Structure): Demonstrates Undamaged classification on an intact facade component.</a:t>
            </a:r>
          </a:p>
          <a:p>
            <a:pPr>
              <a:spcBef>
                <a:spcPts val="800"/>
              </a:spcBef>
              <a:defRPr sz="1200"/>
            </a:pPr>
            <a:r>
              <a:t>4. Ethical Notice: Prominently renders civil engineering disclaimer that predictions are preliminary and not safety certifications.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Limitations, Ethics &amp; Future Work</a:t>
            </a:r>
          </a:p>
        </p:txBody>
      </p:sp>
      <p:sp>
        <p:nvSpPr>
          <p:cNvPr id="4" name="Rounded Rectangle 3"/>
          <p:cNvSpPr/>
          <p:nvPr/>
        </p:nvSpPr>
        <p:spPr>
          <a:xfrm>
            <a:off x="731520" y="1463040"/>
            <a:ext cx="512064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731520"/>
          </a:xfrm>
          <a:prstGeom prst="rect">
            <a:avLst/>
          </a:prstGeom>
          <a:noFill/>
        </p:spPr>
        <p:txBody>
          <a:bodyPr wrap="square">
            <a:spAutoFit/>
          </a:bodyPr>
          <a:lstStyle/>
          <a:p>
            <a:pPr>
              <a:defRPr sz="1500" b="1">
                <a:solidFill>
                  <a:srgbClr val="1A365D"/>
                </a:solidFill>
                <a:latin typeface="Arial"/>
              </a:defRPr>
            </a:pPr>
            <a:r>
              <a:t>Engineering Limitations &amp; Ethics</a:t>
            </a:r>
          </a:p>
        </p:txBody>
      </p:sp>
      <p:sp>
        <p:nvSpPr>
          <p:cNvPr id="6" name="TextBox 5"/>
          <p:cNvSpPr txBox="1"/>
          <p:nvPr/>
        </p:nvSpPr>
        <p:spPr>
          <a:xfrm>
            <a:off x="914400" y="2194560"/>
            <a:ext cx="4754880" cy="3840480"/>
          </a:xfrm>
          <a:prstGeom prst="rect">
            <a:avLst/>
          </a:prstGeom>
          <a:noFill/>
        </p:spPr>
        <p:txBody>
          <a:bodyPr wrap="square">
            <a:spAutoFit/>
          </a:bodyPr>
          <a:lstStyle/>
          <a:p>
            <a:pPr>
              <a:defRPr sz="1200">
                <a:solidFill>
                  <a:srgbClr val="2D3748"/>
                </a:solidFill>
              </a:defRPr>
            </a:pPr>
            <a:r>
              <a:t>• Coarse Binary Scope: Distinguishes only Damaged vs. Undamaged; does not grade severity (minor cosmetic cracking vs. catastrophic shear failure).</a:t>
            </a:r>
          </a:p>
          <a:p>
            <a:pPr>
              <a:spcBef>
                <a:spcPts val="800"/>
              </a:spcBef>
              <a:defRPr sz="1200"/>
            </a:pPr>
            <a:r>
              <a:t>• Resolution Bounds: 224x224 input can overlook micro-cracks. Full-resolution hierarchical tiling would be needed for microscopic inspections.</a:t>
            </a:r>
          </a:p>
          <a:p>
            <a:pPr>
              <a:spcBef>
                <a:spcPts val="800"/>
              </a:spcBef>
              <a:defRPr sz="1200"/>
            </a:pPr>
            <a:r>
              <a:t>• Distribution Shift: Trained primarily on concrete and masonry components; may exhibit lower confidence on timber, steel, or composite structures.</a:t>
            </a:r>
          </a:p>
          <a:p>
            <a:pPr>
              <a:spcBef>
                <a:spcPts val="800"/>
              </a:spcBef>
              <a:defRPr sz="1200" b="1">
                <a:solidFill>
                  <a:srgbClr val="2B6CB0"/>
                </a:solidFill>
              </a:defRPr>
            </a:pPr>
            <a:r>
              <a:t>• Ethical Imperative: AI tools must assist, not replace, certified structural engineers.</a:t>
            </a:r>
          </a:p>
        </p:txBody>
      </p:sp>
      <p:sp>
        <p:nvSpPr>
          <p:cNvPr id="7" name="Rounded Rectangle 6"/>
          <p:cNvSpPr/>
          <p:nvPr/>
        </p:nvSpPr>
        <p:spPr>
          <a:xfrm>
            <a:off x="6217920" y="1463040"/>
            <a:ext cx="5212080" cy="475488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731520"/>
          </a:xfrm>
          <a:prstGeom prst="rect">
            <a:avLst/>
          </a:prstGeom>
          <a:noFill/>
        </p:spPr>
        <p:txBody>
          <a:bodyPr wrap="square">
            <a:spAutoFit/>
          </a:bodyPr>
          <a:lstStyle/>
          <a:p>
            <a:pPr>
              <a:defRPr sz="1500" b="1">
                <a:solidFill>
                  <a:srgbClr val="1A365D"/>
                </a:solidFill>
                <a:latin typeface="Arial"/>
              </a:defRPr>
            </a:pPr>
            <a:r>
              <a:t>Future Technical Roadmap</a:t>
            </a:r>
          </a:p>
        </p:txBody>
      </p:sp>
      <p:sp>
        <p:nvSpPr>
          <p:cNvPr id="9" name="TextBox 8"/>
          <p:cNvSpPr txBox="1"/>
          <p:nvPr/>
        </p:nvSpPr>
        <p:spPr>
          <a:xfrm>
            <a:off x="6400800" y="2194560"/>
            <a:ext cx="4846320" cy="3840480"/>
          </a:xfrm>
          <a:prstGeom prst="rect">
            <a:avLst/>
          </a:prstGeom>
          <a:noFill/>
        </p:spPr>
        <p:txBody>
          <a:bodyPr wrap="square">
            <a:spAutoFit/>
          </a:bodyPr>
          <a:lstStyle/>
          <a:p>
            <a:pPr>
              <a:defRPr sz="1200">
                <a:solidFill>
                  <a:srgbClr val="2D3748"/>
                </a:solidFill>
              </a:defRPr>
            </a:pPr>
            <a:r>
              <a:t>1. Multi-Task Learning: Expand to Phi-Net Tasks 3-6 to classify component type, damage severity, and failure mechanism simultaneously.</a:t>
            </a:r>
          </a:p>
          <a:p>
            <a:pPr>
              <a:spcBef>
                <a:spcPts val="800"/>
              </a:spcBef>
              <a:defRPr sz="1200"/>
            </a:pPr>
            <a:r>
              <a:t>2. Explainability &amp; Attention: Integrate Grad-CAM heatmaps so civil engineers can visually verify where the model is looking before accepting predictions.</a:t>
            </a:r>
          </a:p>
          <a:p>
            <a:pPr>
              <a:spcBef>
                <a:spcPts val="800"/>
              </a:spcBef>
              <a:defRPr sz="1200"/>
            </a:pPr>
            <a:r>
              <a:t>3. Mobile &amp; Drone Deployment: Quantize the MobileNetV2 graph to INT8 TensorFlow Lite for real-time offline edge inferencing on field drones and mobile phones.</a:t>
            </a:r>
          </a:p>
          <a:p>
            <a:pPr>
              <a:spcBef>
                <a:spcPts val="800"/>
              </a:spcBef>
              <a:defRPr sz="1200"/>
            </a:pPr>
            <a:r>
              <a:t>4. Classical Baseline Comparison: Benchmark against HOG feature extractors with Support Vector Machines.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B6CB0"/>
                </a:solidFill>
                <a:latin typeface="Arial"/>
              </a:defRPr>
            </a:pPr>
            <a:r>
              <a:t>UE24CS352A — MACHINE LEARNING MINI-PROJECT</a:t>
            </a:r>
          </a:p>
        </p:txBody>
      </p:sp>
      <p:sp>
        <p:nvSpPr>
          <p:cNvPr id="3" name="TextBox 2"/>
          <p:cNvSpPr txBox="1"/>
          <p:nvPr/>
        </p:nvSpPr>
        <p:spPr>
          <a:xfrm>
            <a:off x="731520" y="685800"/>
            <a:ext cx="10698480" cy="640080"/>
          </a:xfrm>
          <a:prstGeom prst="rect">
            <a:avLst/>
          </a:prstGeom>
          <a:noFill/>
        </p:spPr>
        <p:txBody>
          <a:bodyPr wrap="square">
            <a:spAutoFit/>
          </a:bodyPr>
          <a:lstStyle/>
          <a:p>
            <a:pPr>
              <a:defRPr sz="2400" b="1">
                <a:solidFill>
                  <a:srgbClr val="1A365D"/>
                </a:solidFill>
                <a:latin typeface="Arial"/>
              </a:defRPr>
            </a:pPr>
            <a:r>
              <a:t>Conclusion &amp; Key References</a:t>
            </a:r>
          </a:p>
        </p:txBody>
      </p:sp>
      <p:sp>
        <p:nvSpPr>
          <p:cNvPr id="4" name="Rounded Rectangle 3"/>
          <p:cNvSpPr/>
          <p:nvPr/>
        </p:nvSpPr>
        <p:spPr>
          <a:xfrm>
            <a:off x="731520" y="1463040"/>
            <a:ext cx="10698480" cy="237744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731520"/>
          </a:xfrm>
          <a:prstGeom prst="rect">
            <a:avLst/>
          </a:prstGeom>
          <a:noFill/>
        </p:spPr>
        <p:txBody>
          <a:bodyPr wrap="square">
            <a:spAutoFit/>
          </a:bodyPr>
          <a:lstStyle/>
          <a:p>
            <a:pPr>
              <a:defRPr sz="1500" b="1">
                <a:solidFill>
                  <a:srgbClr val="1A365D"/>
                </a:solidFill>
                <a:latin typeface="Arial"/>
              </a:defRPr>
            </a:pPr>
            <a:r>
              <a:t>Project Summary</a:t>
            </a:r>
          </a:p>
        </p:txBody>
      </p:sp>
      <p:sp>
        <p:nvSpPr>
          <p:cNvPr id="6" name="TextBox 5"/>
          <p:cNvSpPr txBox="1"/>
          <p:nvPr/>
        </p:nvSpPr>
        <p:spPr>
          <a:xfrm>
            <a:off x="914400" y="2103120"/>
            <a:ext cx="10332720" cy="1645920"/>
          </a:xfrm>
          <a:prstGeom prst="rect">
            <a:avLst/>
          </a:prstGeom>
          <a:noFill/>
        </p:spPr>
        <p:txBody>
          <a:bodyPr wrap="square">
            <a:spAutoFit/>
          </a:bodyPr>
          <a:lstStyle/>
          <a:p>
            <a:pPr>
              <a:defRPr sz="1300">
                <a:solidFill>
                  <a:srgbClr val="2D3748"/>
                </a:solidFill>
              </a:defRPr>
            </a:pPr>
            <a:r>
              <a:t>• Complete Reproducible Pipeline: Successfully implemented memory-efficient data loading, verified Caffe BGR preprocessing inversion, and feature-cached transfer learning.</a:t>
            </a:r>
          </a:p>
          <a:p>
            <a:pPr>
              <a:defRPr sz="1300"/>
            </a:pPr>
            <a:r>
              <a:t>• Strong Empirical Benchmark: Achieved 84.25% test accuracy and 0.9289 ROC-AUC on 1,460 official test images with 85.91% Damaged class recall.</a:t>
            </a:r>
          </a:p>
          <a:p>
            <a:pPr>
              <a:defRPr sz="1300"/>
            </a:pPr>
            <a:r>
              <a:t>• Submission Deliverables: Source code in private GitHub repo, 2-page PDF report (report.pdf), presentation deck, viva guide, and running Streamlit web app.</a:t>
            </a:r>
          </a:p>
        </p:txBody>
      </p:sp>
      <p:sp>
        <p:nvSpPr>
          <p:cNvPr id="7" name="Rounded Rectangle 6"/>
          <p:cNvSpPr/>
          <p:nvPr/>
        </p:nvSpPr>
        <p:spPr>
          <a:xfrm>
            <a:off x="731520" y="4114800"/>
            <a:ext cx="10698480" cy="2103120"/>
          </a:xfrm>
          <a:prstGeom prst="round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51960"/>
            <a:ext cx="10332720" cy="731520"/>
          </a:xfrm>
          <a:prstGeom prst="rect">
            <a:avLst/>
          </a:prstGeom>
          <a:noFill/>
        </p:spPr>
        <p:txBody>
          <a:bodyPr wrap="square">
            <a:spAutoFit/>
          </a:bodyPr>
          <a:lstStyle/>
          <a:p>
            <a:pPr>
              <a:defRPr sz="1500" b="1">
                <a:solidFill>
                  <a:srgbClr val="1A365D"/>
                </a:solidFill>
                <a:latin typeface="Arial"/>
              </a:defRPr>
            </a:pPr>
            <a:r>
              <a:t>References</a:t>
            </a:r>
          </a:p>
        </p:txBody>
      </p:sp>
      <p:sp>
        <p:nvSpPr>
          <p:cNvPr id="9" name="TextBox 8"/>
          <p:cNvSpPr txBox="1"/>
          <p:nvPr/>
        </p:nvSpPr>
        <p:spPr>
          <a:xfrm>
            <a:off x="914400" y="4663440"/>
            <a:ext cx="10332720" cy="1463040"/>
          </a:xfrm>
          <a:prstGeom prst="rect">
            <a:avLst/>
          </a:prstGeom>
          <a:noFill/>
        </p:spPr>
        <p:txBody>
          <a:bodyPr wrap="square">
            <a:spAutoFit/>
          </a:bodyPr>
          <a:lstStyle/>
          <a:p>
            <a:pPr>
              <a:defRPr sz="1100">
                <a:solidFill>
                  <a:srgbClr val="718096"/>
                </a:solidFill>
              </a:defRPr>
            </a:pPr>
            <a:r>
              <a:t>1. Gao, Y., &amp; Mosalam, K. M. (2018). Deep Transfer Learning for Image‐Based Structural Damage Recognition. Comp.-Aided Civ. &amp; Inf. Eng., 33(9), 748–768.</a:t>
            </a:r>
          </a:p>
          <a:p>
            <a:pPr>
              <a:defRPr sz="1100">
                <a:solidFill>
                  <a:srgbClr val="718096"/>
                </a:solidFill>
              </a:defRPr>
            </a:pPr>
            <a:r>
              <a:t>2. Gao, Y., &amp; Mosalam, K. M. (2020). PEER Hub ImageNet: A Large-Scale Benchmark Data Set. Journal of Structural Engineering, 146(10), 04020198.</a:t>
            </a:r>
          </a:p>
          <a:p>
            <a:pPr>
              <a:defRPr sz="1100">
                <a:solidFill>
                  <a:srgbClr val="718096"/>
                </a:solidFill>
              </a:defRPr>
            </a:pPr>
            <a:r>
              <a:t>3. Sandler, M., et al. (2018). MobileNetV2: Inverted Residuals and Linear Bottlenecks. CVPR 2018, 4510–4520.</a:t>
            </a:r>
          </a:p>
          <a:p>
            <a:pPr>
              <a:defRPr sz="1100">
                <a:solidFill>
                  <a:srgbClr val="718096"/>
                </a:solidFill>
              </a:defRPr>
            </a:pPr>
            <a:r>
              <a:t>4. Ho, M., &amp; Troncoso, J. (2018). Structural Damage Image Classification. Stanford CS229 Machine Learning Project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